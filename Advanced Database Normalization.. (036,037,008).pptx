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74" r:id="rId16"/>
    <p:sldId id="268" r:id="rId17"/>
    <p:sldId id="269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8" autoAdjust="0"/>
    <p:restoredTop sz="87553" autoAdjust="0"/>
  </p:normalViewPr>
  <p:slideViewPr>
    <p:cSldViewPr snapToGrid="0">
      <p:cViewPr varScale="1">
        <p:scale>
          <a:sx n="55" d="100"/>
          <a:sy n="55" d="100"/>
        </p:scale>
        <p:origin x="11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C0659-BE8B-4F18-ACFB-9AE8A854FC9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4A1A9-B411-4E25-83C5-CED1A5F7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7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4A1A9-B411-4E25-83C5-CED1A5F7F6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93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4A1A9-B411-4E25-83C5-CED1A5F7F6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4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36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6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6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8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0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94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50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19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84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606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330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6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261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71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62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9570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F4FA-D675-60F2-1545-282223561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6629" y="244928"/>
            <a:ext cx="9111342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Topic: </a:t>
            </a:r>
            <a:r>
              <a:rPr lang="en-US" sz="3200" dirty="0">
                <a:solidFill>
                  <a:schemeClr val="bg1"/>
                </a:solidFill>
              </a:rPr>
              <a:t>Advanced database normalization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83709-1BC1-31D6-032F-85617250E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1457" y="2024743"/>
            <a:ext cx="9780814" cy="4131128"/>
          </a:xfrm>
        </p:spPr>
        <p:txBody>
          <a:bodyPr/>
          <a:lstStyle/>
          <a:p>
            <a:r>
              <a:rPr lang="en-US" sz="2400" b="1" u="sng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   Meerub Waseem_</a:t>
            </a:r>
            <a:r>
              <a:rPr lang="en-US" b="1" dirty="0">
                <a:solidFill>
                  <a:schemeClr val="bg1"/>
                </a:solidFill>
              </a:rPr>
              <a:t>036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   talal  ahmad naeem _</a:t>
            </a:r>
            <a:r>
              <a:rPr lang="en-US" b="1" dirty="0">
                <a:solidFill>
                  <a:schemeClr val="bg1"/>
                </a:solidFill>
              </a:rPr>
              <a:t>037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       abeera saeed _</a:t>
            </a:r>
            <a:r>
              <a:rPr lang="en-US" b="1" dirty="0">
                <a:solidFill>
                  <a:schemeClr val="bg1"/>
                </a:solidFill>
              </a:rPr>
              <a:t>008 </a:t>
            </a:r>
          </a:p>
          <a:p>
            <a:r>
              <a:rPr lang="en-US" b="1" u="sng" dirty="0"/>
              <a:t> </a:t>
            </a:r>
            <a:r>
              <a:rPr lang="en-US" sz="2400" b="1" u="sng" dirty="0">
                <a:solidFill>
                  <a:schemeClr val="bg1"/>
                </a:solidFill>
              </a:rPr>
              <a:t>Submitted to :</a:t>
            </a:r>
          </a:p>
          <a:p>
            <a:r>
              <a:rPr lang="en-US" dirty="0"/>
              <a:t>                                </a:t>
            </a:r>
            <a:r>
              <a:rPr lang="en-US" dirty="0">
                <a:solidFill>
                  <a:schemeClr val="bg1"/>
                </a:solidFill>
              </a:rPr>
              <a:t>SIR Shahid javed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   </a:t>
            </a:r>
            <a:r>
              <a:rPr lang="en-US" u="sng" dirty="0">
                <a:solidFill>
                  <a:schemeClr val="bg1"/>
                </a:solidFill>
              </a:rPr>
              <a:t>Department of software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80D10-7F4C-1BBE-D01A-3591763FB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156" y="2188028"/>
            <a:ext cx="3724371" cy="248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0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8AB2-2ADC-5C98-8728-2F8F69CC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384" y="175847"/>
            <a:ext cx="5932149" cy="52084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              </a:t>
            </a:r>
            <a:r>
              <a:rPr lang="en-US" u="sng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59704-2A9A-0BC3-0DD7-86F470CA2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444" y="696686"/>
            <a:ext cx="6498770" cy="6161314"/>
          </a:xfrm>
        </p:spPr>
        <p:txBody>
          <a:bodyPr>
            <a:normAutofit lnSpcReduction="10000"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  What is Normalization.?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Definition:</a:t>
            </a:r>
          </a:p>
          <a:p>
            <a:r>
              <a:rPr lang="en-US" sz="1800" dirty="0">
                <a:solidFill>
                  <a:schemeClr val="bg1"/>
                </a:solidFill>
              </a:rPr>
              <a:t>Normalization is the process of organizing data in a database to reduce redundancy and improve efficiency.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             Problems Without Normalization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Problems:</a:t>
            </a:r>
            <a:endParaRPr lang="en-US" sz="1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Same data repeated many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Wastage of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Difficult to update data correctly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             Benefits With Normalization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Data stored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Tables are clean and organized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Easy to maintain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C09C0C72-BD43-3A8D-D7B5-F311E5EB88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3037" r="23037"/>
          <a:stretch>
            <a:fillRect/>
          </a:stretch>
        </p:blipFill>
        <p:spPr>
          <a:xfrm>
            <a:off x="7266214" y="1257299"/>
            <a:ext cx="4158342" cy="346165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rgbClr val="82FFFF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642021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A9AE-F071-AF6F-A00E-EF0FEA7F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756" y="244930"/>
            <a:ext cx="8719457" cy="814772"/>
          </a:xfrm>
        </p:spPr>
        <p:txBody>
          <a:bodyPr/>
          <a:lstStyle/>
          <a:p>
            <a:r>
              <a:rPr lang="en-US" dirty="0"/>
              <a:t>                </a:t>
            </a:r>
            <a:r>
              <a:rPr lang="en-US" b="1" u="sng" dirty="0">
                <a:solidFill>
                  <a:schemeClr val="bg1"/>
                </a:solidFill>
              </a:rPr>
              <a:t>the Roadmap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4A763-31A3-1912-3934-95725A78F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4643" y="1080042"/>
            <a:ext cx="9706926" cy="5533028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</a:rPr>
              <a:t>What We Will Explain Today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Topics: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BCNF (Boyce-Codd Normal Form)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When 3NF but not BCNF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BCNF Example &amp; Decomposition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4NF &amp; Multi-valued Dependency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4NF Violation &amp; Solution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5NF &amp; Join Dependency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Lossless Join &amp; Hierarchy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Final Recommendation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3FBE03-D5D7-3F3E-59A6-4843E23AA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288" y="2170878"/>
            <a:ext cx="5028997" cy="33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5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7E08-C532-6C66-C570-4D965414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28" y="609600"/>
            <a:ext cx="4985863" cy="45720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bcnf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502486F-D182-60D3-68E6-37E804C4B32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7741" r="17741"/>
          <a:stretch>
            <a:fillRect/>
          </a:stretch>
        </p:blipFill>
        <p:spPr>
          <a:xfrm>
            <a:off x="7825153" y="1863968"/>
            <a:ext cx="3222259" cy="356967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rgbClr val="82FFFF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4ADDA-EF90-5690-83FC-5EB2EA96A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5503" y="1371601"/>
            <a:ext cx="6239311" cy="4550228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CourseID → Instructor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CourseID must be Candidate 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BCNF removes redundancy caused by functional dependencies and creates a stronger database design.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Key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3A1C07-33C5-4F9C-A677-D8991801C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70181"/>
              </p:ext>
            </p:extLst>
          </p:nvPr>
        </p:nvGraphicFramePr>
        <p:xfrm>
          <a:off x="875502" y="1518557"/>
          <a:ext cx="5884527" cy="175913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9536">
                  <a:extLst>
                    <a:ext uri="{9D8B030D-6E8A-4147-A177-3AD203B41FA5}">
                      <a16:colId xmlns:a16="http://schemas.microsoft.com/office/drawing/2014/main" val="3232442297"/>
                    </a:ext>
                  </a:extLst>
                </a:gridCol>
                <a:gridCol w="4584991">
                  <a:extLst>
                    <a:ext uri="{9D8B030D-6E8A-4147-A177-3AD203B41FA5}">
                      <a16:colId xmlns:a16="http://schemas.microsoft.com/office/drawing/2014/main" val="374943836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Definition: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BCNF stands for Boyce- codd Normal Form. It is a stronger version of 3NF.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14247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r>
                        <a:rPr lang="en-US" dirty="0"/>
                        <a:t>Rule: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 Determinant must be a candidate key.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679229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r>
                        <a:rPr lang="en-US" dirty="0"/>
                        <a:t>Meaning: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one column determines another , first must be a candidate key.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672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03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76B2-A1BA-FFD8-BC8C-BF8FD09B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86" y="215746"/>
            <a:ext cx="8222568" cy="851053"/>
          </a:xfrm>
        </p:spPr>
        <p:txBody>
          <a:bodyPr/>
          <a:lstStyle/>
          <a:p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3nf but not bcnf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507D-A8BA-74E2-2CCC-53572FB4C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343" y="1224643"/>
            <a:ext cx="9937069" cy="5633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When 3NF is NOT BCNF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A table can be in 3NF but NOT in BCNF when there are overlapping composite candidate keys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What does "overlapping composite keys" mean?</a:t>
            </a:r>
          </a:p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 A composite key is a key made of two or more columns.</a:t>
            </a:r>
          </a:p>
          <a:p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 Overlapping means the two keys share at least one common column.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Example Table: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 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Student Course</a:t>
            </a:r>
            <a:endParaRPr lang="en-US" sz="3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en"/>
            </a:endParaRPr>
          </a:p>
          <a:p>
            <a:pPr marL="0" indent="0">
              <a:buNone/>
            </a:pPr>
            <a:endParaRPr lang="en-US" sz="3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en"/>
            </a:endParaRPr>
          </a:p>
          <a:p>
            <a:pPr marL="0" indent="0">
              <a:buNone/>
            </a:pPr>
            <a:endParaRPr lang="en-US" sz="8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en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en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en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en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e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D38507-82F6-5769-F935-D0F271BE4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596429"/>
              </p:ext>
            </p:extLst>
          </p:nvPr>
        </p:nvGraphicFramePr>
        <p:xfrm>
          <a:off x="2677886" y="4941276"/>
          <a:ext cx="4619730" cy="170097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4634">
                  <a:extLst>
                    <a:ext uri="{9D8B030D-6E8A-4147-A177-3AD203B41FA5}">
                      <a16:colId xmlns:a16="http://schemas.microsoft.com/office/drawing/2014/main" val="1864079582"/>
                    </a:ext>
                  </a:extLst>
                </a:gridCol>
                <a:gridCol w="1667777">
                  <a:extLst>
                    <a:ext uri="{9D8B030D-6E8A-4147-A177-3AD203B41FA5}">
                      <a16:colId xmlns:a16="http://schemas.microsoft.com/office/drawing/2014/main" val="925336644"/>
                    </a:ext>
                  </a:extLst>
                </a:gridCol>
                <a:gridCol w="1817319">
                  <a:extLst>
                    <a:ext uri="{9D8B030D-6E8A-4147-A177-3AD203B41FA5}">
                      <a16:colId xmlns:a16="http://schemas.microsoft.com/office/drawing/2014/main" val="3351077622"/>
                    </a:ext>
                  </a:extLst>
                </a:gridCol>
              </a:tblGrid>
              <a:tr h="413392">
                <a:tc>
                  <a:txBody>
                    <a:bodyPr/>
                    <a:lstStyle/>
                    <a:p>
                      <a:r>
                        <a:rPr lang="en-US" dirty="0"/>
                        <a:t>StudentID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Instructor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491231"/>
                  </a:ext>
                </a:extLst>
              </a:tr>
              <a:tr h="395648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Sir Shahid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88521"/>
                  </a:ext>
                </a:extLst>
              </a:tr>
              <a:tr h="395648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Sir Waleed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917479"/>
                  </a:ext>
                </a:extLst>
              </a:tr>
              <a:tr h="496289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Sir Shahid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404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60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5164-A01F-5A8B-6134-9919090A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6752492" cy="1037492"/>
          </a:xfrm>
        </p:spPr>
        <p:txBody>
          <a:bodyPr/>
          <a:lstStyle/>
          <a:p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3nf but not bcnf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1AB1D-7B8E-F3CB-E33A-DAC7FC750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262" y="1037492"/>
            <a:ext cx="9746149" cy="58205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Candidate Keys:                              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(StudentID, CourseID)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(StudentID, Instructor</a:t>
            </a:r>
            <a:r>
              <a:rPr lang="en-US" sz="1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)                                  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Functional Dependency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CourseID → Instructor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The Problem: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CourseID determines Instructor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But CourseID is NOT a candidate key by itself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CourseID alone cannot uniquely identify a row</a:t>
            </a:r>
          </a:p>
          <a:p>
            <a:pPr marL="0" indent="0">
              <a:buNone/>
            </a:pPr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Result: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   3NF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is better than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en"/>
              </a:rPr>
              <a:t>BCNF.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A3624B-0319-6ACD-82AA-6FA4C696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877" y="1037492"/>
            <a:ext cx="3217985" cy="1435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3B1FD6-11BB-B4DA-6816-D84810983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560" y="2948727"/>
            <a:ext cx="3803851" cy="14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6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7F08-6012-7CF9-38F5-D17C0C01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29" y="195944"/>
            <a:ext cx="9430882" cy="1142999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BCNF example &amp;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9EAB4-9BB9-8130-B419-F808536A5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380" y="1338943"/>
            <a:ext cx="9518091" cy="532311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Table (Not In BCNF):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Dependency:</a:t>
            </a:r>
            <a:endParaRPr lang="en-US" sz="4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ZipCode → City</a:t>
            </a:r>
          </a:p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this wrong?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ZipCode determines City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But ZipCode is NOT a candidate key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is repeated unnecessarily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violates BCNF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05FA41-8D0B-2E96-0F2F-653977AFB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601644"/>
              </p:ext>
            </p:extLst>
          </p:nvPr>
        </p:nvGraphicFramePr>
        <p:xfrm>
          <a:off x="3938954" y="1828801"/>
          <a:ext cx="5046782" cy="1737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90246">
                  <a:extLst>
                    <a:ext uri="{9D8B030D-6E8A-4147-A177-3AD203B41FA5}">
                      <a16:colId xmlns:a16="http://schemas.microsoft.com/office/drawing/2014/main" val="778270285"/>
                    </a:ext>
                  </a:extLst>
                </a:gridCol>
                <a:gridCol w="1439426">
                  <a:extLst>
                    <a:ext uri="{9D8B030D-6E8A-4147-A177-3AD203B41FA5}">
                      <a16:colId xmlns:a16="http://schemas.microsoft.com/office/drawing/2014/main" val="1239180266"/>
                    </a:ext>
                  </a:extLst>
                </a:gridCol>
                <a:gridCol w="2517110">
                  <a:extLst>
                    <a:ext uri="{9D8B030D-6E8A-4147-A177-3AD203B41FA5}">
                      <a16:colId xmlns:a16="http://schemas.microsoft.com/office/drawing/2014/main" val="3714510992"/>
                    </a:ext>
                  </a:extLst>
                </a:gridCol>
              </a:tblGrid>
              <a:tr h="289045"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Zip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853744"/>
                  </a:ext>
                </a:extLst>
              </a:tr>
              <a:tr h="349908">
                <a:tc>
                  <a:txBody>
                    <a:bodyPr/>
                    <a:lstStyle/>
                    <a:p>
                      <a:r>
                        <a:rPr lang="en-US" dirty="0"/>
                        <a:t>Lahore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Mall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58851"/>
                  </a:ext>
                </a:extLst>
              </a:tr>
              <a:tr h="349908">
                <a:tc>
                  <a:txBody>
                    <a:bodyPr/>
                    <a:lstStyle/>
                    <a:p>
                      <a:r>
                        <a:rPr lang="en-US" dirty="0"/>
                        <a:t>Lahore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Jail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12394"/>
                  </a:ext>
                </a:extLst>
              </a:tr>
              <a:tr h="505829">
                <a:tc>
                  <a:txBody>
                    <a:bodyPr/>
                    <a:lstStyle/>
                    <a:p>
                      <a:r>
                        <a:rPr lang="en-US" dirty="0"/>
                        <a:t>Karachi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Shahrah-e-Faisal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782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465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478A-4B0B-4F0E-9366-922519AD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753" y="618518"/>
            <a:ext cx="8708657" cy="928928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BCNF example &amp; decomposition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EA0A-73AB-021F-D5A0-000BB07F6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7446"/>
            <a:ext cx="9905999" cy="5310553"/>
          </a:xfrm>
        </p:spPr>
        <p:txBody>
          <a:bodyPr/>
          <a:lstStyle/>
          <a:p>
            <a:pPr marL="0" indent="0" fontAlgn="t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Tables BCNF: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Zip Code_ city                                   </a:t>
            </a:r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2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Zip Code _ Street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</a:t>
            </a:r>
          </a:p>
          <a:p>
            <a:pPr marL="0" indent="0" fontAlgn="t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en"/>
              </a:rPr>
              <a:t>Result:</a:t>
            </a:r>
          </a:p>
          <a:p>
            <a:r>
              <a:rPr lang="en-US" dirty="0">
                <a:solidFill>
                  <a:schemeClr val="bg1"/>
                </a:solidFill>
              </a:rPr>
              <a:t> No repetition of City</a:t>
            </a:r>
          </a:p>
          <a:p>
            <a:r>
              <a:rPr lang="en-US" dirty="0">
                <a:solidFill>
                  <a:schemeClr val="bg1"/>
                </a:solidFill>
              </a:rPr>
              <a:t> Clean structure</a:t>
            </a:r>
          </a:p>
          <a:p>
            <a:r>
              <a:rPr lang="en-US" dirty="0">
                <a:solidFill>
                  <a:schemeClr val="bg1"/>
                </a:solidFill>
              </a:rPr>
              <a:t> Lossless Join possible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C175C2-72DC-DB4B-2981-5C496DA08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174060"/>
              </p:ext>
            </p:extLst>
          </p:nvPr>
        </p:nvGraphicFramePr>
        <p:xfrm>
          <a:off x="1451708" y="2880360"/>
          <a:ext cx="347198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338">
                  <a:extLst>
                    <a:ext uri="{9D8B030D-6E8A-4147-A177-3AD203B41FA5}">
                      <a16:colId xmlns:a16="http://schemas.microsoft.com/office/drawing/2014/main" val="560531272"/>
                    </a:ext>
                  </a:extLst>
                </a:gridCol>
                <a:gridCol w="2004646">
                  <a:extLst>
                    <a:ext uri="{9D8B030D-6E8A-4147-A177-3AD203B41FA5}">
                      <a16:colId xmlns:a16="http://schemas.microsoft.com/office/drawing/2014/main" val="2506290424"/>
                    </a:ext>
                  </a:extLst>
                </a:gridCol>
              </a:tblGrid>
              <a:tr h="35872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ZipCode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99246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lang="en-US" dirty="0"/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Lahore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845876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r>
                        <a:rPr lang="en-US" dirty="0"/>
                        <a:t>75000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Karachi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9001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016059-7DFA-5584-7F3A-1CA7CE40C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468461"/>
              </p:ext>
            </p:extLst>
          </p:nvPr>
        </p:nvGraphicFramePr>
        <p:xfrm>
          <a:off x="7069015" y="2880360"/>
          <a:ext cx="3833448" cy="1604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370">
                  <a:extLst>
                    <a:ext uri="{9D8B030D-6E8A-4147-A177-3AD203B41FA5}">
                      <a16:colId xmlns:a16="http://schemas.microsoft.com/office/drawing/2014/main" val="1336799521"/>
                    </a:ext>
                  </a:extLst>
                </a:gridCol>
                <a:gridCol w="2198078">
                  <a:extLst>
                    <a:ext uri="{9D8B030D-6E8A-4147-A177-3AD203B41FA5}">
                      <a16:colId xmlns:a16="http://schemas.microsoft.com/office/drawing/2014/main" val="3983464738"/>
                    </a:ext>
                  </a:extLst>
                </a:gridCol>
              </a:tblGrid>
              <a:tr h="3271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ZipCode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Street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50487"/>
                  </a:ext>
                </a:extLst>
              </a:tr>
              <a:tr h="327116">
                <a:tc>
                  <a:txBody>
                    <a:bodyPr/>
                    <a:lstStyle/>
                    <a:p>
                      <a:r>
                        <a:rPr lang="en-US" dirty="0"/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Mall Road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06456"/>
                  </a:ext>
                </a:extLst>
              </a:tr>
              <a:tr h="327116">
                <a:tc>
                  <a:txBody>
                    <a:bodyPr/>
                    <a:lstStyle/>
                    <a:p>
                      <a:r>
                        <a:rPr lang="en-US" dirty="0"/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Jail Road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897003"/>
                  </a:ext>
                </a:extLst>
              </a:tr>
              <a:tr h="507188">
                <a:tc>
                  <a:txBody>
                    <a:bodyPr/>
                    <a:lstStyle/>
                    <a:p>
                      <a:r>
                        <a:rPr lang="en-US" dirty="0"/>
                        <a:t>75000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Shahrah e-Faisal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129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536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E4B2-137F-E805-37CF-2C601E19D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629" y="618518"/>
            <a:ext cx="8630782" cy="263225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4nf (Fourth Normal Form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D8BD5-B87F-DC10-9F8D-92287654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40971"/>
            <a:ext cx="9905999" cy="5257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Definition: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4NF (Fourth Normal Form) is a level of database normalization that builds on BCNF.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Formula: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4NF = BCNF + No Multi-valued Dependencies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 Simple Words: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 table is in 4NF if:</a:t>
            </a:r>
          </a:p>
          <a:p>
            <a:r>
              <a:rPr lang="en-US" dirty="0">
                <a:solidFill>
                  <a:schemeClr val="bg1"/>
                </a:solidFill>
              </a:rPr>
              <a:t>It is already in BCNF </a:t>
            </a:r>
          </a:p>
          <a:p>
            <a:r>
              <a:rPr lang="en-US" dirty="0">
                <a:solidFill>
                  <a:schemeClr val="bg1"/>
                </a:solidFill>
              </a:rPr>
              <a:t>It contains no multi-valued dependencies  (these are not allowed)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Why do we need 4NF?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BCNF removes problems caused by functional dependencies. But there is another type of problem caused by multi-valued dependencies. 4NF removes those problems.</a:t>
            </a:r>
          </a:p>
        </p:txBody>
      </p:sp>
    </p:spTree>
    <p:extLst>
      <p:ext uri="{BB962C8B-B14F-4D97-AF65-F5344CB8AC3E}">
        <p14:creationId xmlns:p14="http://schemas.microsoft.com/office/powerpoint/2010/main" val="37847755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33FE0-3BDE-AB80-76A0-B62A130C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9529" y="0"/>
            <a:ext cx="8287883" cy="881743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value –Dependency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81588-13D4-603D-1470-2ACFD62BB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758" y="881742"/>
            <a:ext cx="10214654" cy="5976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What is a Multi-valued Dependency?</a:t>
            </a:r>
          </a:p>
          <a:p>
            <a:pPr marL="0" indent="0">
              <a:buNone/>
            </a:pPr>
            <a:r>
              <a:rPr lang="en-US" u="sng" dirty="0">
                <a:solidFill>
                  <a:schemeClr val="bg1"/>
                </a:solidFill>
              </a:rPr>
              <a:t>Definition: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multi-valued dependency (MVD) occurs when one attribute (X) determines multiple independent values of another attribute (Y).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Symbol: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     X →→ 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Example: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One Employee can have multiple Skills</a:t>
            </a:r>
          </a:p>
          <a:p>
            <a:r>
              <a:rPr lang="en-US" sz="2000" dirty="0">
                <a:solidFill>
                  <a:schemeClr val="bg1"/>
                </a:solidFill>
              </a:rPr>
              <a:t>· The same Employee can have multiple Languages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Key Point: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Skills and Languages are independent of each other.</a:t>
            </a:r>
          </a:p>
        </p:txBody>
      </p:sp>
      <p:pic>
        <p:nvPicPr>
          <p:cNvPr id="8" name="Picture 2" descr="DBMS Multivalued Dependency | How Multivalued Dependency Works?">
            <a:extLst>
              <a:ext uri="{FF2B5EF4-FFF2-40B4-BE49-F238E27FC236}">
                <a16:creationId xmlns:a16="http://schemas.microsoft.com/office/drawing/2014/main" id="{D9762563-9164-13E7-F600-72D89B386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992" y="2939143"/>
            <a:ext cx="4286250" cy="280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51293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CC9B-3F5C-A882-19CB-7C62664E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843" y="0"/>
            <a:ext cx="7217228" cy="1338943"/>
          </a:xfrm>
        </p:spPr>
        <p:txBody>
          <a:bodyPr/>
          <a:lstStyle/>
          <a:p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value –Dependency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38344-7D53-436C-285C-3F727A582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112" y="1338943"/>
            <a:ext cx="9905999" cy="44522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Table: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 this table:</a:t>
            </a:r>
          </a:p>
          <a:p>
            <a:pPr marL="0" indent="0">
              <a:buNone/>
            </a:pPr>
            <a:r>
              <a:rPr lang="en-US" dirty="0"/>
              <a:t>· </a:t>
            </a:r>
            <a:r>
              <a:rPr lang="en-US" dirty="0">
                <a:solidFill>
                  <a:schemeClr val="bg1"/>
                </a:solidFill>
              </a:rPr>
              <a:t>EmpID →→ Skill (Each employee has multiple skills)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· EmpID →→ Language (Each employee has multiple languages)</a:t>
            </a:r>
            <a:r>
              <a:rPr lang="en-US" dirty="0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FCCA4E-30D6-717C-1DD2-404CC6272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46934"/>
              </p:ext>
            </p:extLst>
          </p:nvPr>
        </p:nvGraphicFramePr>
        <p:xfrm>
          <a:off x="1681843" y="2035022"/>
          <a:ext cx="51271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214">
                  <a:extLst>
                    <a:ext uri="{9D8B030D-6E8A-4147-A177-3AD203B41FA5}">
                      <a16:colId xmlns:a16="http://schemas.microsoft.com/office/drawing/2014/main" val="2887501378"/>
                    </a:ext>
                  </a:extLst>
                </a:gridCol>
                <a:gridCol w="2005348">
                  <a:extLst>
                    <a:ext uri="{9D8B030D-6E8A-4147-A177-3AD203B41FA5}">
                      <a16:colId xmlns:a16="http://schemas.microsoft.com/office/drawing/2014/main" val="1509729481"/>
                    </a:ext>
                  </a:extLst>
                </a:gridCol>
                <a:gridCol w="1373610">
                  <a:extLst>
                    <a:ext uri="{9D8B030D-6E8A-4147-A177-3AD203B41FA5}">
                      <a16:colId xmlns:a16="http://schemas.microsoft.com/office/drawing/2014/main" val="2060372550"/>
                    </a:ext>
                  </a:extLst>
                </a:gridCol>
              </a:tblGrid>
              <a:tr h="14248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Email_ID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811523"/>
                  </a:ext>
                </a:extLst>
              </a:tr>
              <a:tr h="142482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290435"/>
                  </a:ext>
                </a:extLst>
              </a:tr>
              <a:tr h="142482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714826"/>
                  </a:ext>
                </a:extLst>
              </a:tr>
              <a:tr h="142482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058830"/>
                  </a:ext>
                </a:extLst>
              </a:tr>
              <a:tr h="142482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481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90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6A4F-AD17-C4E6-CA4E-1398A54CA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629" y="212272"/>
            <a:ext cx="3445328" cy="854527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4NF - violation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E497-82FA-2C63-BC29-2FFF4676A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6799"/>
            <a:ext cx="10664145" cy="5578928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                                            </a:t>
            </a:r>
            <a:r>
              <a:rPr lang="en-US" dirty="0">
                <a:solidFill>
                  <a:schemeClr val="bg1"/>
                </a:solidFill>
              </a:rPr>
              <a:t>Wrong Table not in 4NF</a:t>
            </a:r>
            <a:r>
              <a:rPr lang="en-US" dirty="0"/>
              <a:t>                                                            </a:t>
            </a:r>
            <a:r>
              <a:rPr lang="en-US" b="1" u="sng" dirty="0">
                <a:solidFill>
                  <a:schemeClr val="bg1"/>
                </a:solidFill>
              </a:rPr>
              <a:t>Title: </a:t>
            </a:r>
            <a:r>
              <a:rPr lang="en-US" sz="2000" b="1" dirty="0">
                <a:solidFill>
                  <a:schemeClr val="bg1"/>
                </a:solidFill>
              </a:rPr>
              <a:t>4NF Violation – Employee-Skill-Language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What's happening?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101 has Skills: {Java, Python}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Employee 101 has Languages: {English, Spanish}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Every skill is paired with every language → 4 rows for one employee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(Data Explosion):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 Add new skill C++ → need 2 new rows (English + Spanish)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Add new language French → need 2 new rows (Java + Python)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Table grows unnecessarily fast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</a:rPr>
              <a:t>Result:  </a:t>
            </a:r>
            <a:r>
              <a:rPr lang="en-US" sz="2000" dirty="0">
                <a:solidFill>
                  <a:schemeClr val="bg1"/>
                </a:solidFill>
              </a:rPr>
              <a:t>This is a 4NF violation .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9904BA-54B7-98CB-A670-F252B0FD0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640012"/>
              </p:ext>
            </p:extLst>
          </p:nvPr>
        </p:nvGraphicFramePr>
        <p:xfrm>
          <a:off x="7347856" y="1714500"/>
          <a:ext cx="414745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429">
                  <a:extLst>
                    <a:ext uri="{9D8B030D-6E8A-4147-A177-3AD203B41FA5}">
                      <a16:colId xmlns:a16="http://schemas.microsoft.com/office/drawing/2014/main" val="3844838348"/>
                    </a:ext>
                  </a:extLst>
                </a:gridCol>
                <a:gridCol w="2011822">
                  <a:extLst>
                    <a:ext uri="{9D8B030D-6E8A-4147-A177-3AD203B41FA5}">
                      <a16:colId xmlns:a16="http://schemas.microsoft.com/office/drawing/2014/main" val="312895082"/>
                    </a:ext>
                  </a:extLst>
                </a:gridCol>
                <a:gridCol w="1144206">
                  <a:extLst>
                    <a:ext uri="{9D8B030D-6E8A-4147-A177-3AD203B41FA5}">
                      <a16:colId xmlns:a16="http://schemas.microsoft.com/office/drawing/2014/main" val="63401162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77446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24506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73476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3324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379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25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tint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8511-AD1C-7E33-F364-8B2E496CD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757" y="146958"/>
            <a:ext cx="4865914" cy="1191986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4nf-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C0C1C-66E4-8431-EC6D-EF9D3DB21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4" y="1126670"/>
            <a:ext cx="11250386" cy="558437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u="sng" dirty="0">
                <a:solidFill>
                  <a:schemeClr val="bg1"/>
                </a:solidFill>
              </a:rPr>
              <a:t>Title: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The Fix – 4NF Decomposition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Tables in 4NF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Table 1</a:t>
            </a:r>
            <a:r>
              <a:rPr lang="en-US" sz="2600" dirty="0">
                <a:solidFill>
                  <a:schemeClr val="bg1"/>
                </a:solidFill>
              </a:rPr>
              <a:t>: Employee_ </a:t>
            </a:r>
            <a:r>
              <a:rPr lang="en-US" sz="3100" dirty="0">
                <a:solidFill>
                  <a:schemeClr val="bg1"/>
                </a:solidFill>
              </a:rPr>
              <a:t>skill                                        Table 2: Employee_ Language</a:t>
            </a:r>
            <a:endParaRPr lang="en-US" sz="2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600" b="1" u="sng" dirty="0">
                <a:solidFill>
                  <a:schemeClr val="bg1"/>
                </a:solidFill>
              </a:rPr>
              <a:t>Result:</a:t>
            </a:r>
          </a:p>
          <a:p>
            <a:r>
              <a:rPr lang="en-US" dirty="0">
                <a:solidFill>
                  <a:schemeClr val="bg1"/>
                </a:solidFill>
              </a:rPr>
              <a:t>No duplication</a:t>
            </a:r>
          </a:p>
          <a:p>
            <a:r>
              <a:rPr lang="en-US" dirty="0">
                <a:solidFill>
                  <a:schemeClr val="bg1"/>
                </a:solidFill>
              </a:rPr>
              <a:t>Easy updates</a:t>
            </a:r>
          </a:p>
          <a:p>
            <a:r>
              <a:rPr lang="en-US" dirty="0">
                <a:solidFill>
                  <a:schemeClr val="bg1"/>
                </a:solidFill>
              </a:rPr>
              <a:t>Add new skill → 1 row</a:t>
            </a:r>
          </a:p>
          <a:p>
            <a:r>
              <a:rPr lang="en-US" dirty="0">
                <a:solidFill>
                  <a:schemeClr val="bg1"/>
                </a:solidFill>
              </a:rPr>
              <a:t>Add new language → 1 row</a:t>
            </a:r>
          </a:p>
          <a:p>
            <a:r>
              <a:rPr lang="en-US" dirty="0">
                <a:solidFill>
                  <a:schemeClr val="bg1"/>
                </a:solidFill>
              </a:rPr>
              <a:t>Much better structure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ACF130-D299-C8D3-3FA2-A7E2A87D3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20226"/>
              </p:ext>
            </p:extLst>
          </p:nvPr>
        </p:nvGraphicFramePr>
        <p:xfrm>
          <a:off x="1763486" y="2612571"/>
          <a:ext cx="2394858" cy="139935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379647">
                  <a:extLst>
                    <a:ext uri="{9D8B030D-6E8A-4147-A177-3AD203B41FA5}">
                      <a16:colId xmlns:a16="http://schemas.microsoft.com/office/drawing/2014/main" val="1986438809"/>
                    </a:ext>
                  </a:extLst>
                </a:gridCol>
                <a:gridCol w="1015211">
                  <a:extLst>
                    <a:ext uri="{9D8B030D-6E8A-4147-A177-3AD203B41FA5}">
                      <a16:colId xmlns:a16="http://schemas.microsoft.com/office/drawing/2014/main" val="2839433715"/>
                    </a:ext>
                  </a:extLst>
                </a:gridCol>
              </a:tblGrid>
              <a:tr h="46645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EMP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Skill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38452"/>
                  </a:ext>
                </a:extLst>
              </a:tr>
              <a:tr h="466453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860612"/>
                  </a:ext>
                </a:extLst>
              </a:tr>
              <a:tr h="466453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8682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EF0530-8A1C-687C-7994-E602F8757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846256"/>
              </p:ext>
            </p:extLst>
          </p:nvPr>
        </p:nvGraphicFramePr>
        <p:xfrm>
          <a:off x="7984671" y="2612571"/>
          <a:ext cx="3151416" cy="1399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828">
                  <a:extLst>
                    <a:ext uri="{9D8B030D-6E8A-4147-A177-3AD203B41FA5}">
                      <a16:colId xmlns:a16="http://schemas.microsoft.com/office/drawing/2014/main" val="2555636463"/>
                    </a:ext>
                  </a:extLst>
                </a:gridCol>
                <a:gridCol w="1600588">
                  <a:extLst>
                    <a:ext uri="{9D8B030D-6E8A-4147-A177-3AD203B41FA5}">
                      <a16:colId xmlns:a16="http://schemas.microsoft.com/office/drawing/2014/main" val="340481950"/>
                    </a:ext>
                  </a:extLst>
                </a:gridCol>
              </a:tblGrid>
              <a:tr h="46645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EMP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45139"/>
                  </a:ext>
                </a:extLst>
              </a:tr>
              <a:tr h="466453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10513"/>
                  </a:ext>
                </a:extLst>
              </a:tr>
              <a:tr h="466453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501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483826"/>
      </p:ext>
    </p:extLst>
  </p:cSld>
  <p:clrMapOvr>
    <a:masterClrMapping/>
  </p:clrMapOvr>
  <p:transition spd="slow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tint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5C68-78FB-0B54-AE63-5AB5B1860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88" y="146958"/>
            <a:ext cx="5961888" cy="91984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5NF &amp; JOIN DEPENDENCY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C6B46C-2C12-393A-994B-8B123FC2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143" y="993885"/>
            <a:ext cx="58551587" cy="58458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5NF: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table is in 5NF when it cannot be decomposed further without losing information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5NF = 4NF + No Join Dependencies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Join Dependency?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table can be split into 3 or more tables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Joining all of them gives back the original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If you miss one, you lose information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5NF &amp; Decomposition is as follow:</a:t>
            </a:r>
            <a:endParaRPr lang="en-US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relationships are mixed in one table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Student–Course, Course–Teacher, Student–Teacher</a:t>
            </a:r>
          </a:p>
          <a:p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This creates join dependency      </a:t>
            </a:r>
            <a:endParaRPr lang="en-US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6" name="AutoShape 4" descr="5th normal form in data base manage.pptx">
            <a:extLst>
              <a:ext uri="{FF2B5EF4-FFF2-40B4-BE49-F238E27FC236}">
                <a16:creationId xmlns:a16="http://schemas.microsoft.com/office/drawing/2014/main" id="{6F1E2017-C9C3-2D2C-C413-CA1470723D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915886"/>
            <a:ext cx="1665514" cy="166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A0F015-E885-F9E6-AB0A-F4C67EEFB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158" y="2209799"/>
            <a:ext cx="3108961" cy="274320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88A1AB-A3E8-B75D-EBD1-5BB83E7AF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5548"/>
              </p:ext>
            </p:extLst>
          </p:nvPr>
        </p:nvGraphicFramePr>
        <p:xfrm>
          <a:off x="7900416" y="5364480"/>
          <a:ext cx="323697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>
                  <a:extLst>
                    <a:ext uri="{9D8B030D-6E8A-4147-A177-3AD203B41FA5}">
                      <a16:colId xmlns:a16="http://schemas.microsoft.com/office/drawing/2014/main" val="197975843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61082657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564581797"/>
                    </a:ext>
                  </a:extLst>
                </a:gridCol>
              </a:tblGrid>
              <a:tr h="32207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Teacher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441292"/>
                  </a:ext>
                </a:extLst>
              </a:tr>
              <a:tr h="297551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082313"/>
                  </a:ext>
                </a:extLst>
              </a:tr>
              <a:tr h="309248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492737"/>
                  </a:ext>
                </a:extLst>
              </a:tr>
              <a:tr h="309248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82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33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2423-B402-9472-B659-0389FC1A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93" y="263770"/>
            <a:ext cx="9781318" cy="43961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           </a:t>
            </a:r>
            <a:r>
              <a:rPr lang="en-US" sz="31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5NF Example &amp; Decomposition</a:t>
            </a:r>
            <a:endParaRPr lang="en-US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ADCD8-BB16-CC83-EDE7-8F4AA30A3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85" y="863075"/>
            <a:ext cx="11260015" cy="59949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Decomposition: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student_course                 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2: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course_teacher               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3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student_teacher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Points:  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split into smaller relations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data loss after join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5NF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5NF provides a perfect database structure by removing join dependency, but it is rarely used in real-world systems because it is complex and usually unnecessary.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C4D18A-B0A5-12B6-FBA1-A39CB2BB6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969728"/>
              </p:ext>
            </p:extLst>
          </p:nvPr>
        </p:nvGraphicFramePr>
        <p:xfrm>
          <a:off x="931985" y="1899138"/>
          <a:ext cx="1846384" cy="169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420">
                  <a:extLst>
                    <a:ext uri="{9D8B030D-6E8A-4147-A177-3AD203B41FA5}">
                      <a16:colId xmlns:a16="http://schemas.microsoft.com/office/drawing/2014/main" val="1318879374"/>
                    </a:ext>
                  </a:extLst>
                </a:gridCol>
                <a:gridCol w="934964">
                  <a:extLst>
                    <a:ext uri="{9D8B030D-6E8A-4147-A177-3AD203B41FA5}">
                      <a16:colId xmlns:a16="http://schemas.microsoft.com/office/drawing/2014/main" val="2788912241"/>
                    </a:ext>
                  </a:extLst>
                </a:gridCol>
              </a:tblGrid>
              <a:tr h="41895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36445"/>
                  </a:ext>
                </a:extLst>
              </a:tr>
              <a:tr h="42622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174025"/>
                  </a:ext>
                </a:extLst>
              </a:tr>
              <a:tr h="426224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462304"/>
                  </a:ext>
                </a:extLst>
              </a:tr>
              <a:tr h="426224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9433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299D1D-E856-F8E3-A120-3B567D42F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667954"/>
              </p:ext>
            </p:extLst>
          </p:nvPr>
        </p:nvGraphicFramePr>
        <p:xfrm>
          <a:off x="4260362" y="1897494"/>
          <a:ext cx="259763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364">
                  <a:extLst>
                    <a:ext uri="{9D8B030D-6E8A-4147-A177-3AD203B41FA5}">
                      <a16:colId xmlns:a16="http://schemas.microsoft.com/office/drawing/2014/main" val="867338315"/>
                    </a:ext>
                  </a:extLst>
                </a:gridCol>
                <a:gridCol w="1313274">
                  <a:extLst>
                    <a:ext uri="{9D8B030D-6E8A-4147-A177-3AD203B41FA5}">
                      <a16:colId xmlns:a16="http://schemas.microsoft.com/office/drawing/2014/main" val="1579068646"/>
                    </a:ext>
                  </a:extLst>
                </a:gridCol>
              </a:tblGrid>
              <a:tr h="32926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Teacher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136606"/>
                  </a:ext>
                </a:extLst>
              </a:tr>
              <a:tr h="329261"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012549"/>
                  </a:ext>
                </a:extLst>
              </a:tr>
              <a:tr h="329261">
                <a:tc>
                  <a:txBody>
                    <a:bodyPr/>
                    <a:lstStyle/>
                    <a:p>
                      <a:r>
                        <a:rPr lang="en-US" dirty="0"/>
                        <a:t>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94421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CC07B4-E4D9-3067-4FAF-8EAA07638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324043"/>
              </p:ext>
            </p:extLst>
          </p:nvPr>
        </p:nvGraphicFramePr>
        <p:xfrm>
          <a:off x="8216902" y="1897494"/>
          <a:ext cx="2158022" cy="1556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551">
                  <a:extLst>
                    <a:ext uri="{9D8B030D-6E8A-4147-A177-3AD203B41FA5}">
                      <a16:colId xmlns:a16="http://schemas.microsoft.com/office/drawing/2014/main" val="3214797547"/>
                    </a:ext>
                  </a:extLst>
                </a:gridCol>
                <a:gridCol w="1277471">
                  <a:extLst>
                    <a:ext uri="{9D8B030D-6E8A-4147-A177-3AD203B41FA5}">
                      <a16:colId xmlns:a16="http://schemas.microsoft.com/office/drawing/2014/main" val="859067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Studen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Teacher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194327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20507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480319"/>
                  </a:ext>
                </a:extLst>
              </a:tr>
              <a:tr h="397002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30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416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tint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3310-E104-C920-8E00-7DA8FCC0C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28600"/>
            <a:ext cx="10288588" cy="65063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Lossless join &amp; normalization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875-657D-FD11-C5FE-55B3D5DAB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72662"/>
            <a:ext cx="9905999" cy="57853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Lossless Join?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decompose a table using normalization rules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rejoin (NATURAL JOIN) the pieces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get back exactly the original rows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extra fake rows (spurious tuples)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Normalization Hierarchy: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5NF  ← Highest (rarely used)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↑  4NF  ← Removes multi-valued dependencies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↑  BCNF  ← Removes tricky functional dependencies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↑   3NF  ← Removes transitive dependencies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↑  2NF  ← Removes partial dependencies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↑  1NF  ← Atomic values only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693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9F0C-C993-B3A3-00E4-BEE4CA4C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276" y="246186"/>
            <a:ext cx="6770077" cy="967152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4D0A-EECC-92B8-8A3E-E0FE4BDFA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62" y="1072662"/>
            <a:ext cx="10203349" cy="5785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Should We Actually Use?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Normal Forms Recommendation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1NF, 2NF, 3NF → Use always (basic clean structure)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BCNF → Recommended (safe and strong design)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4NF → Use only in special cases (like multi-valued data problem)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5NF →  Rarely needed (too complex, not practical </a:t>
            </a:r>
            <a:r>
              <a:rPr lang="en-US" dirty="0">
                <a:solidFill>
                  <a:schemeClr val="bg1"/>
                </a:solidFill>
              </a:rPr>
              <a:t>for most systems)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Golden Rule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most real-world systems like schools, hospitals, shopping apps, and banking systems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BCNF is enough.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and well-structured database is always better than a very complex design that is hard to manage.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“Keep your database clean, not complicated.”</a:t>
            </a:r>
          </a:p>
        </p:txBody>
      </p:sp>
    </p:spTree>
    <p:extLst>
      <p:ext uri="{BB962C8B-B14F-4D97-AF65-F5344CB8AC3E}">
        <p14:creationId xmlns:p14="http://schemas.microsoft.com/office/powerpoint/2010/main" val="66941878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D377-739C-0839-622B-3BAB1A08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9" y="1419227"/>
            <a:ext cx="8761411" cy="200977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7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34F26-22D1-0ED2-385E-E92DA799E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6431" y="3657600"/>
            <a:ext cx="9710980" cy="214153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Do You Have 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703957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718</TotalTime>
  <Words>1290</Words>
  <Application>Microsoft Office PowerPoint</Application>
  <PresentationFormat>Widescreen</PresentationFormat>
  <Paragraphs>327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Times New Roman</vt:lpstr>
      <vt:lpstr>Times New Romen</vt:lpstr>
      <vt:lpstr>Tw Cen MT</vt:lpstr>
      <vt:lpstr>Wingdings</vt:lpstr>
      <vt:lpstr>Circuit</vt:lpstr>
      <vt:lpstr>       DATABASE SYSTEM Topic: Advanced database normalization</vt:lpstr>
      <vt:lpstr>              Introduction</vt:lpstr>
      <vt:lpstr>                the Roadmap</vt:lpstr>
      <vt:lpstr>Introduction to bcnf</vt:lpstr>
      <vt:lpstr>WHEN 3nf but not bcnf</vt:lpstr>
      <vt:lpstr>WHEN 3nf but not bcnf</vt:lpstr>
      <vt:lpstr>BCNF example &amp; decomposition</vt:lpstr>
      <vt:lpstr>BCNF example &amp; decomposition</vt:lpstr>
      <vt:lpstr>4nf (Fourth Normal Form)</vt:lpstr>
      <vt:lpstr>Multi value –Dependency</vt:lpstr>
      <vt:lpstr>Multi value –Dependency</vt:lpstr>
      <vt:lpstr>4NF - violation</vt:lpstr>
      <vt:lpstr>4nf- decomposition</vt:lpstr>
      <vt:lpstr>5NF &amp; JOIN DEPENDENCY</vt:lpstr>
      <vt:lpstr>           5NF Example &amp; Decomposition</vt:lpstr>
      <vt:lpstr>Lossless join &amp; normalization hierarchy</vt:lpstr>
      <vt:lpstr>Final recommendation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16</cp:revision>
  <dcterms:created xsi:type="dcterms:W3CDTF">2026-05-01T15:26:01Z</dcterms:created>
  <dcterms:modified xsi:type="dcterms:W3CDTF">2026-05-09T15:34:03Z</dcterms:modified>
</cp:coreProperties>
</file>